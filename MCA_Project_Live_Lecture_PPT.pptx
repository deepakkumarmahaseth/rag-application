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376" r:id="rId3"/>
    <p:sldId id="377" r:id="rId4"/>
    <p:sldId id="378" r:id="rId5"/>
    <p:sldId id="379" r:id="rId6"/>
    <p:sldId id="380" r:id="rId7"/>
    <p:sldId id="382" r:id="rId8"/>
    <p:sldId id="383" r:id="rId9"/>
    <p:sldId id="384" r:id="rId10"/>
    <p:sldId id="385" r:id="rId11"/>
    <p:sldId id="386" r:id="rId12"/>
    <p:sldId id="387" r:id="rId13"/>
    <p:sldId id="388" r:id="rId14"/>
    <p:sldId id="389" r:id="rId15"/>
    <p:sldId id="392" r:id="rId16"/>
    <p:sldId id="393" r:id="rId17"/>
    <p:sldId id="394" r:id="rId18"/>
    <p:sldId id="390" r:id="rId19"/>
    <p:sldId id="38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4660"/>
  </p:normalViewPr>
  <p:slideViewPr>
    <p:cSldViewPr snapToGrid="0">
      <p:cViewPr varScale="1">
        <p:scale>
          <a:sx n="82" d="100"/>
          <a:sy n="82" d="100"/>
        </p:scale>
        <p:origin x="71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4B8E3-0CBD-4489-9A82-30A71B5AC75C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7EC57-335A-4D5C-833E-0ADF5DD54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605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4B8E3-0CBD-4489-9A82-30A71B5AC75C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7EC57-335A-4D5C-833E-0ADF5DD54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488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4B8E3-0CBD-4489-9A82-30A71B5AC75C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7EC57-335A-4D5C-833E-0ADF5DD54E30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B3117B-4E55-FD8A-B80C-543BD0A8F0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0158" y="6048501"/>
            <a:ext cx="3083278" cy="9808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300352B-6388-3FA4-709A-D872D9E980D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" y="0"/>
            <a:ext cx="957836" cy="957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500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4B8E3-0CBD-4489-9A82-30A71B5AC75C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7EC57-335A-4D5C-833E-0ADF5DD54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430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4B8E3-0CBD-4489-9A82-30A71B5AC75C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7EC57-335A-4D5C-833E-0ADF5DD54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064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4B8E3-0CBD-4489-9A82-30A71B5AC75C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7EC57-335A-4D5C-833E-0ADF5DD54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870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4B8E3-0CBD-4489-9A82-30A71B5AC75C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7EC57-335A-4D5C-833E-0ADF5DD54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750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4B8E3-0CBD-4489-9A82-30A71B5AC75C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7EC57-335A-4D5C-833E-0ADF5DD54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145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4B8E3-0CBD-4489-9A82-30A71B5AC75C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7EC57-335A-4D5C-833E-0ADF5DD54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951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4B8E3-0CBD-4489-9A82-30A71B5AC75C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7EC57-335A-4D5C-833E-0ADF5DD54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07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4B8E3-0CBD-4489-9A82-30A71B5AC75C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7EC57-335A-4D5C-833E-0ADF5DD54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23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24B8E3-0CBD-4489-9A82-30A71B5AC75C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B7EC57-335A-4D5C-833E-0ADF5DD54E30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260059-0DBA-E92B-C09F-1D8DB2F6342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7334" y="6176963"/>
            <a:ext cx="3083278" cy="9808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DFF9DE2-5376-B3CD-2781-33E0072277E5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" y="0"/>
            <a:ext cx="957836" cy="957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757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mailto:mcaproject@onlinevgu.com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8DE86BC-52AA-EDD8-20F5-4B7E1E9FA46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0"/>
            <a:ext cx="9144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00D694D-A936-5158-F05C-FE35E424F8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5257800" cy="6858000"/>
          </a:xfrm>
          <a:prstGeom prst="rect">
            <a:avLst/>
          </a:prstGeom>
          <a:gradFill>
            <a:gsLst>
              <a:gs pos="0">
                <a:srgbClr val="ED0103"/>
              </a:gs>
              <a:gs pos="74000">
                <a:srgbClr val="C30101"/>
              </a:gs>
              <a:gs pos="83000">
                <a:srgbClr val="9C0302"/>
              </a:gs>
              <a:gs pos="100000">
                <a:srgbClr val="61050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1D0DBA-3521-5FAF-A947-7F27C7271B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302000"/>
            <a:ext cx="12192000" cy="2679700"/>
          </a:xfrm>
          <a:prstGeom prst="rect">
            <a:avLst/>
          </a:prstGeom>
          <a:solidFill>
            <a:schemeClr val="tx1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0DEF5A-B18D-3910-417B-52D19C7789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996543" y="0"/>
            <a:ext cx="522514" cy="3302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755" y="3888550"/>
            <a:ext cx="5184289" cy="144799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3200" b="1" dirty="0">
                <a:solidFill>
                  <a:schemeClr val="bg1"/>
                </a:solidFill>
                <a:latin typeface="Open Sans"/>
              </a:rPr>
              <a:t>Program- MCA</a:t>
            </a:r>
            <a:br>
              <a:rPr lang="en-US" sz="3200" b="1" dirty="0">
                <a:solidFill>
                  <a:schemeClr val="bg1"/>
                </a:solidFill>
                <a:latin typeface="Open Sans"/>
              </a:rPr>
            </a:br>
            <a:r>
              <a:rPr lang="en-US" sz="3200" b="1" dirty="0">
                <a:solidFill>
                  <a:schemeClr val="bg1"/>
                </a:solidFill>
                <a:latin typeface="Open Sans"/>
              </a:rPr>
              <a:t>Semester- IV</a:t>
            </a:r>
            <a:br>
              <a:rPr lang="en-US" sz="3200" b="1" dirty="0">
                <a:solidFill>
                  <a:schemeClr val="bg1"/>
                </a:solidFill>
                <a:latin typeface="Open Sans"/>
              </a:rPr>
            </a:br>
            <a:r>
              <a:rPr lang="en-US" sz="3200" b="1" dirty="0">
                <a:solidFill>
                  <a:schemeClr val="bg1"/>
                </a:solidFill>
                <a:latin typeface="Open Sans"/>
              </a:rPr>
              <a:t>Subject- Project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C432E9-7391-341C-2E01-6D14E61B4E8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3739" y="6139370"/>
            <a:ext cx="3083278" cy="9808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82C2AC9-EC79-2E57-553D-5EA361461A3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1536"/>
            <a:ext cx="957836" cy="95783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0DC107B-0859-653F-E820-2924BCE089AA}"/>
              </a:ext>
            </a:extLst>
          </p:cNvPr>
          <p:cNvSpPr txBox="1">
            <a:spLocks/>
          </p:cNvSpPr>
          <p:nvPr/>
        </p:nvSpPr>
        <p:spPr>
          <a:xfrm>
            <a:off x="73511" y="5358803"/>
            <a:ext cx="3853030" cy="5327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dirty="0">
                <a:solidFill>
                  <a:schemeClr val="bg1"/>
                </a:solidFill>
                <a:latin typeface="Open Sans"/>
              </a:rPr>
              <a:t>Faculty Name- Er. Mohit Jain</a:t>
            </a:r>
          </a:p>
        </p:txBody>
      </p:sp>
    </p:spTree>
    <p:extLst>
      <p:ext uri="{BB962C8B-B14F-4D97-AF65-F5344CB8AC3E}">
        <p14:creationId xmlns:p14="http://schemas.microsoft.com/office/powerpoint/2010/main" val="774699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7062F-5EBC-0CE5-44F6-E97D197DF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360DD2C-657F-0A25-B559-A3289F54323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BC2775A-CF75-475E-07AC-5AC4A56A135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AF400F5-E8C1-FE58-E0D4-4DC9C7FF8B4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5400000">
              <a:off x="8478060" y="171578"/>
              <a:ext cx="3865530" cy="3562351"/>
            </a:xfrm>
            <a:custGeom>
              <a:avLst/>
              <a:gdLst>
                <a:gd name="connsiteX0" fmla="*/ 0 w 4629149"/>
                <a:gd name="connsiteY0" fmla="*/ 0 h 4422321"/>
                <a:gd name="connsiteX1" fmla="*/ 4499638 w 4629149"/>
                <a:gd name="connsiteY1" fmla="*/ 0 h 4422321"/>
                <a:gd name="connsiteX2" fmla="*/ 4519524 w 4629149"/>
                <a:gd name="connsiteY2" fmla="*/ 70029 h 4422321"/>
                <a:gd name="connsiteX3" fmla="*/ 4629149 w 4629149"/>
                <a:gd name="connsiteY3" fmla="*/ 940252 h 4422321"/>
                <a:gd name="connsiteX4" fmla="*/ 1147080 w 4629149"/>
                <a:gd name="connsiteY4" fmla="*/ 4422321 h 4422321"/>
                <a:gd name="connsiteX5" fmla="*/ 111619 w 4629149"/>
                <a:gd name="connsiteY5" fmla="*/ 4265774 h 4422321"/>
                <a:gd name="connsiteX6" fmla="*/ 0 w 4629149"/>
                <a:gd name="connsiteY6" fmla="*/ 4228007 h 4422321"/>
                <a:gd name="connsiteX7" fmla="*/ 0 w 4629149"/>
                <a:gd name="connsiteY7" fmla="*/ 0 h 4422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629149" h="4422321">
                  <a:moveTo>
                    <a:pt x="0" y="0"/>
                  </a:moveTo>
                  <a:lnTo>
                    <a:pt x="4499638" y="0"/>
                  </a:lnTo>
                  <a:lnTo>
                    <a:pt x="4519524" y="70029"/>
                  </a:lnTo>
                  <a:cubicBezTo>
                    <a:pt x="4591088" y="348175"/>
                    <a:pt x="4629149" y="639769"/>
                    <a:pt x="4629149" y="940252"/>
                  </a:cubicBezTo>
                  <a:cubicBezTo>
                    <a:pt x="4629149" y="2863346"/>
                    <a:pt x="3070174" y="4422321"/>
                    <a:pt x="1147080" y="4422321"/>
                  </a:cubicBezTo>
                  <a:cubicBezTo>
                    <a:pt x="786500" y="4422321"/>
                    <a:pt x="438721" y="4367514"/>
                    <a:pt x="111619" y="4265774"/>
                  </a:cubicBezTo>
                  <a:lnTo>
                    <a:pt x="0" y="4228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748A706-B501-1EB4-66C6-165FE1A7A9B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-37371" y="5529942"/>
              <a:ext cx="1367347" cy="1260104"/>
            </a:xfrm>
            <a:custGeom>
              <a:avLst/>
              <a:gdLst>
                <a:gd name="connsiteX0" fmla="*/ 0 w 4629149"/>
                <a:gd name="connsiteY0" fmla="*/ 0 h 4422321"/>
                <a:gd name="connsiteX1" fmla="*/ 4499638 w 4629149"/>
                <a:gd name="connsiteY1" fmla="*/ 0 h 4422321"/>
                <a:gd name="connsiteX2" fmla="*/ 4519524 w 4629149"/>
                <a:gd name="connsiteY2" fmla="*/ 70029 h 4422321"/>
                <a:gd name="connsiteX3" fmla="*/ 4629149 w 4629149"/>
                <a:gd name="connsiteY3" fmla="*/ 940252 h 4422321"/>
                <a:gd name="connsiteX4" fmla="*/ 1147080 w 4629149"/>
                <a:gd name="connsiteY4" fmla="*/ 4422321 h 4422321"/>
                <a:gd name="connsiteX5" fmla="*/ 111619 w 4629149"/>
                <a:gd name="connsiteY5" fmla="*/ 4265774 h 4422321"/>
                <a:gd name="connsiteX6" fmla="*/ 0 w 4629149"/>
                <a:gd name="connsiteY6" fmla="*/ 4228007 h 4422321"/>
                <a:gd name="connsiteX7" fmla="*/ 0 w 4629149"/>
                <a:gd name="connsiteY7" fmla="*/ 0 h 4422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629149" h="4422321">
                  <a:moveTo>
                    <a:pt x="0" y="0"/>
                  </a:moveTo>
                  <a:lnTo>
                    <a:pt x="4499638" y="0"/>
                  </a:lnTo>
                  <a:lnTo>
                    <a:pt x="4519524" y="70029"/>
                  </a:lnTo>
                  <a:cubicBezTo>
                    <a:pt x="4591088" y="348175"/>
                    <a:pt x="4629149" y="639769"/>
                    <a:pt x="4629149" y="940252"/>
                  </a:cubicBezTo>
                  <a:cubicBezTo>
                    <a:pt x="4629149" y="2863346"/>
                    <a:pt x="3070174" y="4422321"/>
                    <a:pt x="1147080" y="4422321"/>
                  </a:cubicBezTo>
                  <a:cubicBezTo>
                    <a:pt x="786500" y="4422321"/>
                    <a:pt x="438721" y="4367514"/>
                    <a:pt x="111619" y="4265774"/>
                  </a:cubicBezTo>
                  <a:lnTo>
                    <a:pt x="0" y="4228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090717E-785E-4B2C-4FCC-C6C7CA9D93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95301" y="1102819"/>
            <a:ext cx="2604246" cy="845110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Open Sans"/>
              </a:rPr>
              <a:t>Learning</a:t>
            </a:r>
            <a:r>
              <a:rPr lang="en-US" sz="3500" b="1" dirty="0">
                <a:solidFill>
                  <a:schemeClr val="bg1"/>
                </a:solidFill>
                <a:latin typeface="Open Sans"/>
              </a:rPr>
              <a:t> Objective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B38CAE-6D10-AAE9-08ED-1AB33830811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7017" y="2175637"/>
            <a:ext cx="710789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By the end of this session, learner will be able to understand about: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9F09B9-A3E9-995C-2DE3-56D63808FF98}"/>
              </a:ext>
            </a:extLst>
          </p:cNvPr>
          <p:cNvSpPr txBox="1"/>
          <p:nvPr/>
        </p:nvSpPr>
        <p:spPr>
          <a:xfrm>
            <a:off x="567017" y="3028890"/>
            <a:ext cx="710789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The step-by-step process of preparing a project synopsis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bg1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To identify the essential components that must be included in a project report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21A7DB2-E5A9-82E5-D5AE-366835957D8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6192" y="966115"/>
            <a:ext cx="881208" cy="88120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80A5A5E-EA74-1BF6-2A9C-2D5385B0C62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4925" y="6159994"/>
            <a:ext cx="3083278" cy="9808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8C8B7D1-FDAA-2357-BFC0-AF90B30B295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" y="0"/>
            <a:ext cx="957836" cy="957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939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6B169-6436-EE7D-B306-90ED55B26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4AE22-B5D9-BD38-01E1-62F08F2F4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Open Sans" pitchFamily="2" charset="0"/>
                <a:ea typeface="Open Sans" pitchFamily="2" charset="0"/>
                <a:cs typeface="Open Sans" pitchFamily="2" charset="0"/>
              </a:rPr>
              <a:t>Project consists of two phases.</a:t>
            </a:r>
          </a:p>
          <a:p>
            <a:r>
              <a:rPr lang="en-US" sz="2000" dirty="0">
                <a:latin typeface="Open Sans" pitchFamily="2" charset="0"/>
                <a:ea typeface="Open Sans" pitchFamily="2" charset="0"/>
                <a:cs typeface="Open Sans" pitchFamily="2" charset="0"/>
              </a:rPr>
              <a:t>Phase 1: Project Synopsis </a:t>
            </a:r>
          </a:p>
          <a:p>
            <a:r>
              <a:rPr lang="en-US" sz="2000" dirty="0">
                <a:latin typeface="Open Sans" pitchFamily="2" charset="0"/>
                <a:ea typeface="Open Sans" pitchFamily="2" charset="0"/>
                <a:cs typeface="Open Sans" pitchFamily="2" charset="0"/>
              </a:rPr>
              <a:t>Phase 2: Prepare Project Report</a:t>
            </a:r>
          </a:p>
          <a:p>
            <a:pPr marL="0" indent="0">
              <a:buNone/>
            </a:pPr>
            <a:endParaRPr lang="en-US" sz="20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0" indent="0">
              <a:buNone/>
            </a:pPr>
            <a:r>
              <a:rPr lang="en-US" sz="2000" dirty="0">
                <a:latin typeface="Open Sans" pitchFamily="2" charset="0"/>
                <a:ea typeface="Open Sans" pitchFamily="2" charset="0"/>
                <a:cs typeface="Open Sans" pitchFamily="2" charset="0"/>
              </a:rPr>
              <a:t>Project Synopsis Submission for Approval The learner needs to submit the project synopsis for approval through </a:t>
            </a:r>
            <a:r>
              <a:rPr lang="en-US" sz="20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Google form only</a:t>
            </a:r>
            <a:r>
              <a:rPr lang="en-US" sz="200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</a:p>
          <a:p>
            <a:pPr marL="0" indent="0">
              <a:buNone/>
            </a:pPr>
            <a:r>
              <a:rPr lang="en-US" sz="2000" dirty="0">
                <a:latin typeface="Open Sans" pitchFamily="2" charset="0"/>
                <a:ea typeface="Open Sans" pitchFamily="2" charset="0"/>
                <a:cs typeface="Open Sans" pitchFamily="2" charset="0"/>
              </a:rPr>
              <a:t>The project synopsis should be prepared in consultation with the guide and the guide should approve the project synopsis.</a:t>
            </a:r>
            <a:endParaRPr lang="en-IN" sz="20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946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E8EC7-735F-9083-BEE4-886E34336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671D7-5D23-AB76-2518-0334DB4BF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of Project Synopsis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54F79-FCBF-B778-4159-FF8EBFB56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a) Title of the project - Maximum 20 words </a:t>
            </a:r>
          </a:p>
          <a:p>
            <a:pPr marL="0" indent="0">
              <a:buNone/>
            </a:pPr>
            <a:r>
              <a:rPr lang="en-US" dirty="0"/>
              <a:t>b) Introduction and Objectives of the Study - Maximum 200 words</a:t>
            </a:r>
          </a:p>
          <a:p>
            <a:pPr marL="0" indent="0">
              <a:buNone/>
            </a:pPr>
            <a:r>
              <a:rPr lang="en-US" dirty="0"/>
              <a:t>c) Literature Review and Problem Statement - Maximum 500 words </a:t>
            </a:r>
          </a:p>
          <a:p>
            <a:pPr marL="0" indent="0">
              <a:buNone/>
            </a:pPr>
            <a:r>
              <a:rPr lang="en-US" dirty="0"/>
              <a:t>d) Research Methodology and References - Maximum 500 words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7538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CE65A-424A-D8D2-6260-55F216C34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2938A-D0F2-E1C4-9AD5-95EB1C243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Instructions for Submitting the Project Synopsis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8A2BF-6FF8-1A85-F648-F6C7E4532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30146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File formats supported to upload 'Synopsis and Guide Acceptance form' is in pdf only.</a:t>
            </a:r>
          </a:p>
          <a:p>
            <a:r>
              <a:rPr lang="en-US" dirty="0"/>
              <a:t>The file size to be uploaded should not exceed 3MB. </a:t>
            </a:r>
          </a:p>
          <a:p>
            <a:r>
              <a:rPr lang="en-US" dirty="0"/>
              <a:t>Multiple submission of project synopsis is not allowed. </a:t>
            </a:r>
          </a:p>
          <a:p>
            <a:r>
              <a:rPr lang="en-US" dirty="0"/>
              <a:t>Learner needs to ensure that he/she provides a valid e-mail id and mobile number. </a:t>
            </a:r>
          </a:p>
          <a:p>
            <a:r>
              <a:rPr lang="en-US" dirty="0"/>
              <a:t>The submitted project synopsis will be processed by the Project Steering Committee. </a:t>
            </a:r>
          </a:p>
          <a:p>
            <a:r>
              <a:rPr lang="en-US" dirty="0"/>
              <a:t>Synopsis which does not stick to the guidelines, will be rejected and has to be resubmitted for approval again.</a:t>
            </a:r>
          </a:p>
        </p:txBody>
      </p:sp>
    </p:spTree>
    <p:extLst>
      <p:ext uri="{BB962C8B-B14F-4D97-AF65-F5344CB8AC3E}">
        <p14:creationId xmlns:p14="http://schemas.microsoft.com/office/powerpoint/2010/main" val="2356657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8D4F3-1856-4B8D-3B2E-0F78F2A1A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FAFE6-2979-4655-5607-F01354430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Possible reasons for synopsis rejection could be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F7B27-4498-29E6-009D-9BD8F86B1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Guide not approved.</a:t>
            </a:r>
          </a:p>
          <a:p>
            <a:r>
              <a:rPr lang="en-US" dirty="0"/>
              <a:t>Project synopsis not signed by the guide and or the learner.</a:t>
            </a:r>
          </a:p>
          <a:p>
            <a:r>
              <a:rPr lang="en-US" dirty="0"/>
              <a:t>Additional explanation needed.</a:t>
            </a:r>
          </a:p>
          <a:p>
            <a:r>
              <a:rPr lang="en-US" dirty="0"/>
              <a:t>Scope of work needs to be enhanced.</a:t>
            </a:r>
          </a:p>
          <a:p>
            <a:r>
              <a:rPr lang="en-US" dirty="0"/>
              <a:t>Plagiarized content in project synopsis. </a:t>
            </a:r>
          </a:p>
        </p:txBody>
      </p:sp>
    </p:spTree>
    <p:extLst>
      <p:ext uri="{BB962C8B-B14F-4D97-AF65-F5344CB8AC3E}">
        <p14:creationId xmlns:p14="http://schemas.microsoft.com/office/powerpoint/2010/main" val="1913179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6CC1C-75D4-43D5-A22C-07ADCA825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90153-634F-4B07-B609-ABE95549D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 project synopsis is rejected due to Guide being rejected, the learner needs to resubmit both the project synopsis and the guide details over </a:t>
            </a:r>
            <a:r>
              <a:rPr lang="en-US" b="1" dirty="0"/>
              <a:t>google form only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426096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879BE-9BB3-4203-93BB-879B998BA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Qualification of a Supervisor / Guide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6FCDF-541D-4A6A-A867-C317031A4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Supervisor / Guide  should hold at least a post-Graduation degree (</a:t>
            </a:r>
            <a:r>
              <a:rPr lang="en-US" dirty="0" err="1"/>
              <a:t>M.Tech</a:t>
            </a:r>
            <a:r>
              <a:rPr lang="en-US" dirty="0"/>
              <a:t> / MСА). </a:t>
            </a:r>
          </a:p>
          <a:p>
            <a:r>
              <a:rPr lang="en-US" dirty="0"/>
              <a:t>Supervisor must have some research / Project experience.</a:t>
            </a:r>
          </a:p>
          <a:p>
            <a:r>
              <a:rPr lang="en-US" dirty="0"/>
              <a:t> Supervisor should have a minimum of 3 years of Industry /Teaching experience.</a:t>
            </a:r>
          </a:p>
          <a:p>
            <a:r>
              <a:rPr lang="en-US" dirty="0"/>
              <a:t>Supervisor should have scored at least 55% aggregate marks during Post Graduate Program. </a:t>
            </a:r>
          </a:p>
        </p:txBody>
      </p:sp>
    </p:spTree>
    <p:extLst>
      <p:ext uri="{BB962C8B-B14F-4D97-AF65-F5344CB8AC3E}">
        <p14:creationId xmlns:p14="http://schemas.microsoft.com/office/powerpoint/2010/main" val="4041612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E9B55-4929-41A3-8B46-737E9747C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Steering Committee (PSC)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63BFC6-16F3-4586-8F62-E856B42207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75554"/>
          </a:xfrm>
        </p:spPr>
        <p:txBody>
          <a:bodyPr>
            <a:normAutofit/>
          </a:bodyPr>
          <a:lstStyle/>
          <a:p>
            <a:r>
              <a:rPr lang="en-US" dirty="0"/>
              <a:t>To directly monitor and track the projects, Project Steering Committee is set up at the University. </a:t>
            </a:r>
          </a:p>
          <a:p>
            <a:r>
              <a:rPr lang="en-US" dirty="0"/>
              <a:t>The functions of this committee include: </a:t>
            </a:r>
          </a:p>
          <a:p>
            <a:pPr lvl="1"/>
            <a:r>
              <a:rPr lang="en-US" dirty="0"/>
              <a:t>Verifying the submitted documents of proposed guide and complete the Guide Approval process. </a:t>
            </a:r>
          </a:p>
          <a:p>
            <a:pPr lvl="1"/>
            <a:r>
              <a:rPr lang="en-US" dirty="0"/>
              <a:t>Coordination and tracking of all project related activities.</a:t>
            </a:r>
          </a:p>
          <a:p>
            <a:pPr lvl="1"/>
            <a:r>
              <a:rPr lang="en-US" dirty="0"/>
              <a:t>Evaluating the project synopsis submitted by the learner and conveying the result of the same to the learner through E-mail.</a:t>
            </a:r>
          </a:p>
          <a:p>
            <a:pPr lvl="1"/>
            <a:r>
              <a:rPr lang="en-US" dirty="0"/>
              <a:t>Providing suggestions for improvement. </a:t>
            </a:r>
          </a:p>
          <a:p>
            <a:pPr lvl="1"/>
            <a:r>
              <a:rPr lang="en-US" dirty="0"/>
              <a:t>Grading approved synopsis for award of marks.</a:t>
            </a:r>
          </a:p>
        </p:txBody>
      </p:sp>
    </p:spTree>
    <p:extLst>
      <p:ext uri="{BB962C8B-B14F-4D97-AF65-F5344CB8AC3E}">
        <p14:creationId xmlns:p14="http://schemas.microsoft.com/office/powerpoint/2010/main" val="766807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B9BA1-330D-43A9-9EAE-7AB985FFC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Do's &amp; Don'ts for preparing project synopsis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6B028-C2BB-4ACE-A148-0861EC008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Do’s :</a:t>
            </a:r>
          </a:p>
          <a:p>
            <a:r>
              <a:rPr lang="en-US" dirty="0"/>
              <a:t>Use SMART (Specific, Measurable, Achievable, Realistic, Timely) project objectives. </a:t>
            </a:r>
          </a:p>
          <a:p>
            <a:r>
              <a:rPr lang="en-US" dirty="0"/>
              <a:t>Select an appropriate topic and title related to your specialization. </a:t>
            </a:r>
          </a:p>
          <a:p>
            <a:pPr marL="0" indent="0">
              <a:buNone/>
            </a:pPr>
            <a:r>
              <a:rPr lang="en-US" b="1" dirty="0"/>
              <a:t>Don’ts: </a:t>
            </a:r>
          </a:p>
          <a:p>
            <a:r>
              <a:rPr lang="en-US" dirty="0"/>
              <a:t>Don't use past tense except under literature review.</a:t>
            </a:r>
          </a:p>
          <a:p>
            <a:r>
              <a:rPr lang="en-US" dirty="0"/>
              <a:t>Do not formulate more than 5 objectives.</a:t>
            </a:r>
          </a:p>
          <a:p>
            <a:pPr marL="0" indent="0">
              <a:buNone/>
            </a:pPr>
            <a:r>
              <a:rPr lang="en-US" dirty="0"/>
              <a:t>*Not more than one learner is permitted to work on the same project.</a:t>
            </a:r>
          </a:p>
          <a:p>
            <a:pPr marL="0" indent="0">
              <a:buNone/>
            </a:pPr>
            <a:r>
              <a:rPr lang="en-US" dirty="0"/>
              <a:t> If the title is almost identical, the content of the project must be different.</a:t>
            </a:r>
          </a:p>
        </p:txBody>
      </p:sp>
    </p:spTree>
    <p:extLst>
      <p:ext uri="{BB962C8B-B14F-4D97-AF65-F5344CB8AC3E}">
        <p14:creationId xmlns:p14="http://schemas.microsoft.com/office/powerpoint/2010/main" val="2178324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63722-6545-4EDD-A25B-D4538AEF6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2: Project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E1D1C-5A38-456A-8789-DB5E3EACCC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As project work is an important part of MCA course curriculum, it has been marked 8 credits.</a:t>
            </a:r>
          </a:p>
          <a:p>
            <a:r>
              <a:rPr lang="en-US" dirty="0"/>
              <a:t>The following guidelines need to be followed for MCA projects. </a:t>
            </a:r>
          </a:p>
          <a:p>
            <a:r>
              <a:rPr lang="en-US" dirty="0"/>
              <a:t>The project must be related to the specialization pursued. </a:t>
            </a:r>
          </a:p>
          <a:p>
            <a:r>
              <a:rPr lang="en-US" dirty="0"/>
              <a:t>The learner and the guide have the freedom to identify an appropriate topic. </a:t>
            </a:r>
          </a:p>
          <a:p>
            <a:r>
              <a:rPr lang="en-US" dirty="0"/>
              <a:t>The project title should be specific and focused towards the objectives of the project.</a:t>
            </a:r>
          </a:p>
          <a:p>
            <a:r>
              <a:rPr lang="en-US" dirty="0"/>
              <a:t>Project work should be undertaken on the same topic that has been approved by PSC.</a:t>
            </a:r>
          </a:p>
        </p:txBody>
      </p:sp>
    </p:spTree>
    <p:extLst>
      <p:ext uri="{BB962C8B-B14F-4D97-AF65-F5344CB8AC3E}">
        <p14:creationId xmlns:p14="http://schemas.microsoft.com/office/powerpoint/2010/main" val="29941069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5D3E3-1CC7-4E7F-BF64-0BC9B8A24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Project Report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74E09-346C-4613-872C-97CD88B78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Title of the Project</a:t>
            </a:r>
          </a:p>
          <a:p>
            <a:r>
              <a:rPr lang="en-US" dirty="0"/>
              <a:t>Introduction of the Study </a:t>
            </a:r>
          </a:p>
          <a:p>
            <a:r>
              <a:rPr lang="en-US" dirty="0"/>
              <a:t>Objective(s) of the Study </a:t>
            </a:r>
          </a:p>
          <a:p>
            <a:r>
              <a:rPr lang="en-US" dirty="0"/>
              <a:t>Literature Review &amp; identify </a:t>
            </a:r>
          </a:p>
          <a:p>
            <a:r>
              <a:rPr lang="en-US" dirty="0"/>
              <a:t>Research Gap Research Methodology (Research Hypotheses, Research Model, Research Plan, Sampling Plan, Research Procedure).</a:t>
            </a:r>
          </a:p>
          <a:p>
            <a:r>
              <a:rPr lang="en-US" dirty="0"/>
              <a:t>Data analysis &amp; Interpretation </a:t>
            </a:r>
          </a:p>
          <a:p>
            <a:r>
              <a:rPr lang="en-US" dirty="0"/>
              <a:t>Results &amp; Discussions </a:t>
            </a:r>
          </a:p>
          <a:p>
            <a:r>
              <a:rPr lang="en-US" dirty="0"/>
              <a:t>Suggestions/Recommendations</a:t>
            </a:r>
          </a:p>
          <a:p>
            <a:r>
              <a:rPr lang="en-US" dirty="0"/>
              <a:t>Limitations and Scope of Future Research </a:t>
            </a:r>
          </a:p>
          <a:p>
            <a:r>
              <a:rPr lang="en-US" dirty="0"/>
              <a:t>Conclusion</a:t>
            </a:r>
          </a:p>
          <a:p>
            <a:r>
              <a:rPr lang="en-US" dirty="0"/>
              <a:t>References &amp; Bibliography</a:t>
            </a:r>
          </a:p>
        </p:txBody>
      </p:sp>
    </p:spTree>
    <p:extLst>
      <p:ext uri="{BB962C8B-B14F-4D97-AF65-F5344CB8AC3E}">
        <p14:creationId xmlns:p14="http://schemas.microsoft.com/office/powerpoint/2010/main" val="42226411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6BF9C-5304-493A-AF50-B3D350AB1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FORMATTING PATTERN OF THE PROJECT REPORT &amp; SYNOPSIS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D57A5-7092-4976-9756-1CB6438AD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Total No. of Pages:  100 </a:t>
            </a:r>
            <a:r>
              <a:rPr lang="en-US" dirty="0" err="1"/>
              <a:t>approx</a:t>
            </a:r>
            <a:r>
              <a:rPr lang="en-US" dirty="0"/>
              <a:t> </a:t>
            </a:r>
          </a:p>
          <a:p>
            <a:r>
              <a:rPr lang="en-US" dirty="0"/>
              <a:t>Font Type: Times New Rowan </a:t>
            </a:r>
          </a:p>
          <a:p>
            <a:r>
              <a:rPr lang="en-US" dirty="0"/>
              <a:t>Font Size (Running Mater) : 12 pts </a:t>
            </a:r>
          </a:p>
          <a:p>
            <a:r>
              <a:rPr lang="en-US" dirty="0"/>
              <a:t>Font Size (Headings) : 16pts </a:t>
            </a:r>
          </a:p>
          <a:p>
            <a:r>
              <a:rPr lang="en-US" dirty="0"/>
              <a:t>Font Size (Sub Headings) . 14pts </a:t>
            </a:r>
          </a:p>
          <a:p>
            <a:r>
              <a:rPr lang="en-US" dirty="0"/>
              <a:t>Row Spacing : 1.5</a:t>
            </a:r>
          </a:p>
          <a:p>
            <a:r>
              <a:rPr lang="en-US" dirty="0"/>
              <a:t>Alignment : Justified </a:t>
            </a:r>
          </a:p>
          <a:p>
            <a:r>
              <a:rPr lang="en-US" dirty="0"/>
              <a:t>Page Size : A4 </a:t>
            </a:r>
          </a:p>
          <a:p>
            <a:r>
              <a:rPr lang="en-US" dirty="0"/>
              <a:t>Page Setup:   Top: 1  Bottom: 1  Left: 1.5  Right: 1 </a:t>
            </a:r>
          </a:p>
        </p:txBody>
      </p:sp>
    </p:spTree>
    <p:extLst>
      <p:ext uri="{BB962C8B-B14F-4D97-AF65-F5344CB8AC3E}">
        <p14:creationId xmlns:p14="http://schemas.microsoft.com/office/powerpoint/2010/main" val="35628933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A6433-73B1-417D-9564-CBE511850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Evaluation: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CCE2B4-6E28-48CD-801E-06EF24B67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317846" cy="4561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0792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C6728-7FA5-4B5A-ABB3-62CE9CDFD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56769" cy="1325563"/>
          </a:xfrm>
        </p:spPr>
        <p:txBody>
          <a:bodyPr/>
          <a:lstStyle/>
          <a:p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Project Work Execution Plan (Tentative Dates 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98C7D-FC7B-431C-96C5-D0F7EFFA7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FE23D74-6823-49BE-A501-F7BE9B1F1D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372834"/>
              </p:ext>
            </p:extLst>
          </p:nvPr>
        </p:nvGraphicFramePr>
        <p:xfrm>
          <a:off x="1073083" y="2004972"/>
          <a:ext cx="10287000" cy="2616327"/>
        </p:xfrm>
        <a:graphic>
          <a:graphicData uri="http://schemas.openxmlformats.org/drawingml/2006/table">
            <a:tbl>
              <a:tblPr/>
              <a:tblGrid>
                <a:gridCol w="5803900">
                  <a:extLst>
                    <a:ext uri="{9D8B030D-6E8A-4147-A177-3AD203B41FA5}">
                      <a16:colId xmlns:a16="http://schemas.microsoft.com/office/drawing/2014/main" val="1121871794"/>
                    </a:ext>
                  </a:extLst>
                </a:gridCol>
                <a:gridCol w="4483100">
                  <a:extLst>
                    <a:ext uri="{9D8B030D-6E8A-4147-A177-3AD203B41FA5}">
                      <a16:colId xmlns:a16="http://schemas.microsoft.com/office/drawing/2014/main" val="1247956401"/>
                    </a:ext>
                  </a:extLst>
                </a:gridCol>
              </a:tblGrid>
              <a:tr h="519684">
                <a:tc>
                  <a:txBody>
                    <a:bodyPr/>
                    <a:lstStyle/>
                    <a:p>
                      <a:pPr marL="0" marR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Aptos"/>
                        </a:rPr>
                        <a:t>Particulars</a:t>
                      </a:r>
                      <a:endParaRPr lang="en-US" sz="1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7620" marB="0">
                    <a:lnL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Aptos"/>
                        </a:rPr>
                        <a:t>Date</a:t>
                      </a:r>
                      <a:endParaRPr lang="en-US" sz="1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7620" marB="0">
                    <a:lnL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1734875"/>
                  </a:ext>
                </a:extLst>
              </a:tr>
              <a:tr h="519684">
                <a:tc>
                  <a:txBody>
                    <a:bodyPr/>
                    <a:lstStyle/>
                    <a:p>
                      <a:pPr marL="0" marR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Aptos"/>
                        </a:rPr>
                        <a:t>Title Finalization</a:t>
                      </a:r>
                      <a:endParaRPr lang="en-US" sz="18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7620" marB="0">
                    <a:lnL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5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ptos"/>
                        </a:rPr>
                        <a:t>31</a:t>
                      </a:r>
                      <a:r>
                        <a:rPr lang="en-US" sz="1600" baseline="30000" dirty="0">
                          <a:effectLst/>
                          <a:latin typeface="Aptos"/>
                        </a:rPr>
                        <a:t>th</a:t>
                      </a:r>
                      <a:r>
                        <a:rPr lang="en-US" sz="1600" dirty="0">
                          <a:effectLst/>
                          <a:latin typeface="Aptos"/>
                        </a:rPr>
                        <a:t>  August 2026</a:t>
                      </a:r>
                      <a:endParaRPr lang="en-US" sz="1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7620" marB="0">
                    <a:lnL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828289"/>
                  </a:ext>
                </a:extLst>
              </a:tr>
              <a:tr h="537591">
                <a:tc>
                  <a:txBody>
                    <a:bodyPr/>
                    <a:lstStyle/>
                    <a:p>
                      <a:pPr marL="0" marR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Aptos"/>
                        </a:rPr>
                        <a:t>Synopsis Submission</a:t>
                      </a:r>
                      <a:endParaRPr lang="en-US" sz="18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7620" marB="0">
                    <a:lnL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ptos"/>
                        </a:rPr>
                        <a:t>19</a:t>
                      </a:r>
                      <a:r>
                        <a:rPr lang="en-US" sz="1600" baseline="30000" dirty="0">
                          <a:effectLst/>
                          <a:latin typeface="Aptos"/>
                        </a:rPr>
                        <a:t>th</a:t>
                      </a:r>
                      <a:r>
                        <a:rPr lang="en-US" sz="1600" dirty="0">
                          <a:effectLst/>
                          <a:latin typeface="Aptos"/>
                        </a:rPr>
                        <a:t>  September 2026</a:t>
                      </a:r>
                      <a:endParaRPr lang="en-US" sz="1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7620" marB="0">
                    <a:lnL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2619503"/>
                  </a:ext>
                </a:extLst>
              </a:tr>
              <a:tr h="519684">
                <a:tc>
                  <a:txBody>
                    <a:bodyPr/>
                    <a:lstStyle/>
                    <a:p>
                      <a:pPr marL="0" marR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Aptos"/>
                        </a:rPr>
                        <a:t>Final Report Submission</a:t>
                      </a:r>
                      <a:endParaRPr lang="en-US" sz="18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7620" marB="0">
                    <a:lnL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5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ptos"/>
                        </a:rPr>
                        <a:t>7</a:t>
                      </a:r>
                      <a:r>
                        <a:rPr lang="en-US" sz="1600" baseline="30000">
                          <a:effectLst/>
                          <a:latin typeface="Aptos"/>
                        </a:rPr>
                        <a:t>th</a:t>
                      </a:r>
                      <a:r>
                        <a:rPr lang="en-US" sz="1600">
                          <a:effectLst/>
                          <a:latin typeface="Aptos"/>
                        </a:rPr>
                        <a:t> November 2026</a:t>
                      </a:r>
                      <a:endParaRPr lang="en-US" sz="18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7620" marB="0">
                    <a:lnL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248912"/>
                  </a:ext>
                </a:extLst>
              </a:tr>
              <a:tr h="519684">
                <a:tc>
                  <a:txBody>
                    <a:bodyPr/>
                    <a:lstStyle/>
                    <a:p>
                      <a:pPr marL="0" marR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Aptos"/>
                        </a:rPr>
                        <a:t>Final Presentation  Submission</a:t>
                      </a:r>
                      <a:endParaRPr lang="en-US" sz="18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7620" marB="0">
                    <a:lnL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ptos"/>
                        </a:rPr>
                        <a:t>21</a:t>
                      </a:r>
                      <a:r>
                        <a:rPr lang="en-US" sz="1600" baseline="30000" dirty="0">
                          <a:effectLst/>
                          <a:latin typeface="Aptos"/>
                        </a:rPr>
                        <a:t>st</a:t>
                      </a:r>
                      <a:r>
                        <a:rPr lang="en-US" sz="1600" dirty="0">
                          <a:effectLst/>
                          <a:latin typeface="Aptos"/>
                        </a:rPr>
                        <a:t> November 2026</a:t>
                      </a:r>
                      <a:endParaRPr lang="en-US" sz="1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7620" marB="0">
                    <a:lnL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21542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8728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EAE78-B2A6-48D0-BD0C-15BCD822E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PPT Contain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A1822-831C-48DF-9CCF-3B54BCA7B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Presentation slides should have: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Title of the Project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Table of content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Problem Statement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Objectives of the Project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Technology Stack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System Architecture / Design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Implementation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Testing and Validation</a:t>
            </a:r>
            <a:br>
              <a:rPr lang="en-US" dirty="0"/>
            </a:br>
            <a:r>
              <a:rPr lang="en-IN" dirty="0"/>
              <a:t>Results and Output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092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9BB35-6003-4344-BEDD-7A80385D8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Presentation Guidelines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56C19-43E7-433C-9009-B1265531E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presentation should reflect academic and professional standards.</a:t>
            </a:r>
          </a:p>
          <a:p>
            <a:r>
              <a:rPr lang="en-US" dirty="0"/>
              <a:t>Learners must be formally dressed (business or smart casual attire recommended) during Viva presentation.</a:t>
            </a:r>
          </a:p>
          <a:p>
            <a:r>
              <a:rPr lang="en-US" dirty="0"/>
              <a:t>Clearly state your name, enrolment number, and project title at the beginning of the presentation.</a:t>
            </a:r>
          </a:p>
          <a:p>
            <a:r>
              <a:rPr lang="en-US" dirty="0"/>
              <a:t>Time limit: 15-20 minutes for the entire presentation.</a:t>
            </a:r>
          </a:p>
          <a:p>
            <a:r>
              <a:rPr lang="en-US" dirty="0"/>
              <a:t>Avoid reading directly from the slides or script present in your own words with  confidence.</a:t>
            </a:r>
          </a:p>
        </p:txBody>
      </p:sp>
    </p:spTree>
    <p:extLst>
      <p:ext uri="{BB962C8B-B14F-4D97-AF65-F5344CB8AC3E}">
        <p14:creationId xmlns:p14="http://schemas.microsoft.com/office/powerpoint/2010/main" val="25697497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55CB9-1AE3-4878-B01D-D5862954C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Viva Voce/ 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8C636-172F-4057-A674-FA6B2A2D8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Soft copy of the final project report and power point presentation should be submit over </a:t>
            </a:r>
            <a:r>
              <a:rPr lang="en-US" b="1" dirty="0"/>
              <a:t>Google form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 </a:t>
            </a:r>
            <a:r>
              <a:rPr lang="en-US" dirty="0"/>
              <a:t>within the timeline stipulated by the University.</a:t>
            </a:r>
          </a:p>
          <a:p>
            <a:r>
              <a:rPr lang="en-US" dirty="0"/>
              <a:t>The learner should make a PowerPoint presentation of the project and submit it along the project report as Annexure.</a:t>
            </a:r>
          </a:p>
          <a:p>
            <a:r>
              <a:rPr lang="en-US" dirty="0"/>
              <a:t>Any Project related Query mail over E-mail-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  <a:hlinkClick r:id="rId2"/>
              </a:rPr>
              <a:t>mcaproject@onlinevgu.com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99130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9F54E-C69C-176A-0FEA-29F56FB02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331BE8AD-BEEF-0888-A6A4-FD005356371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FA1BE8F-08F7-5BD0-621B-F53A2C1D69E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b="1" dirty="0">
                  <a:solidFill>
                    <a:schemeClr val="bg1"/>
                  </a:solidFill>
                  <a:latin typeface="Open Sans"/>
                </a:rPr>
                <a:t>Thank You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FFAB44C3-B92E-CDB1-9AA9-69AFF7F892D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5400000">
              <a:off x="8478060" y="171578"/>
              <a:ext cx="3865530" cy="3562351"/>
            </a:xfrm>
            <a:custGeom>
              <a:avLst/>
              <a:gdLst>
                <a:gd name="connsiteX0" fmla="*/ 0 w 4629149"/>
                <a:gd name="connsiteY0" fmla="*/ 0 h 4422321"/>
                <a:gd name="connsiteX1" fmla="*/ 4499638 w 4629149"/>
                <a:gd name="connsiteY1" fmla="*/ 0 h 4422321"/>
                <a:gd name="connsiteX2" fmla="*/ 4519524 w 4629149"/>
                <a:gd name="connsiteY2" fmla="*/ 70029 h 4422321"/>
                <a:gd name="connsiteX3" fmla="*/ 4629149 w 4629149"/>
                <a:gd name="connsiteY3" fmla="*/ 940252 h 4422321"/>
                <a:gd name="connsiteX4" fmla="*/ 1147080 w 4629149"/>
                <a:gd name="connsiteY4" fmla="*/ 4422321 h 4422321"/>
                <a:gd name="connsiteX5" fmla="*/ 111619 w 4629149"/>
                <a:gd name="connsiteY5" fmla="*/ 4265774 h 4422321"/>
                <a:gd name="connsiteX6" fmla="*/ 0 w 4629149"/>
                <a:gd name="connsiteY6" fmla="*/ 4228007 h 4422321"/>
                <a:gd name="connsiteX7" fmla="*/ 0 w 4629149"/>
                <a:gd name="connsiteY7" fmla="*/ 0 h 4422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629149" h="4422321">
                  <a:moveTo>
                    <a:pt x="0" y="0"/>
                  </a:moveTo>
                  <a:lnTo>
                    <a:pt x="4499638" y="0"/>
                  </a:lnTo>
                  <a:lnTo>
                    <a:pt x="4519524" y="70029"/>
                  </a:lnTo>
                  <a:cubicBezTo>
                    <a:pt x="4591088" y="348175"/>
                    <a:pt x="4629149" y="639769"/>
                    <a:pt x="4629149" y="940252"/>
                  </a:cubicBezTo>
                  <a:cubicBezTo>
                    <a:pt x="4629149" y="2863346"/>
                    <a:pt x="3070174" y="4422321"/>
                    <a:pt x="1147080" y="4422321"/>
                  </a:cubicBezTo>
                  <a:cubicBezTo>
                    <a:pt x="786500" y="4422321"/>
                    <a:pt x="438721" y="4367514"/>
                    <a:pt x="111619" y="4265774"/>
                  </a:cubicBezTo>
                  <a:lnTo>
                    <a:pt x="0" y="4228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BE3C0CC-9DE1-2BC0-F716-36E9458E572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-37371" y="5529942"/>
              <a:ext cx="1367347" cy="1260104"/>
            </a:xfrm>
            <a:custGeom>
              <a:avLst/>
              <a:gdLst>
                <a:gd name="connsiteX0" fmla="*/ 0 w 4629149"/>
                <a:gd name="connsiteY0" fmla="*/ 0 h 4422321"/>
                <a:gd name="connsiteX1" fmla="*/ 4499638 w 4629149"/>
                <a:gd name="connsiteY1" fmla="*/ 0 h 4422321"/>
                <a:gd name="connsiteX2" fmla="*/ 4519524 w 4629149"/>
                <a:gd name="connsiteY2" fmla="*/ 70029 h 4422321"/>
                <a:gd name="connsiteX3" fmla="*/ 4629149 w 4629149"/>
                <a:gd name="connsiteY3" fmla="*/ 940252 h 4422321"/>
                <a:gd name="connsiteX4" fmla="*/ 1147080 w 4629149"/>
                <a:gd name="connsiteY4" fmla="*/ 4422321 h 4422321"/>
                <a:gd name="connsiteX5" fmla="*/ 111619 w 4629149"/>
                <a:gd name="connsiteY5" fmla="*/ 4265774 h 4422321"/>
                <a:gd name="connsiteX6" fmla="*/ 0 w 4629149"/>
                <a:gd name="connsiteY6" fmla="*/ 4228007 h 4422321"/>
                <a:gd name="connsiteX7" fmla="*/ 0 w 4629149"/>
                <a:gd name="connsiteY7" fmla="*/ 0 h 4422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629149" h="4422321">
                  <a:moveTo>
                    <a:pt x="0" y="0"/>
                  </a:moveTo>
                  <a:lnTo>
                    <a:pt x="4499638" y="0"/>
                  </a:lnTo>
                  <a:lnTo>
                    <a:pt x="4519524" y="70029"/>
                  </a:lnTo>
                  <a:cubicBezTo>
                    <a:pt x="4591088" y="348175"/>
                    <a:pt x="4629149" y="639769"/>
                    <a:pt x="4629149" y="940252"/>
                  </a:cubicBezTo>
                  <a:cubicBezTo>
                    <a:pt x="4629149" y="2863346"/>
                    <a:pt x="3070174" y="4422321"/>
                    <a:pt x="1147080" y="4422321"/>
                  </a:cubicBezTo>
                  <a:cubicBezTo>
                    <a:pt x="786500" y="4422321"/>
                    <a:pt x="438721" y="4367514"/>
                    <a:pt x="111619" y="4265774"/>
                  </a:cubicBezTo>
                  <a:lnTo>
                    <a:pt x="0" y="4228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B2AF140-EA09-0990-7009-6A1073FA9F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646302" y="1105842"/>
            <a:ext cx="2604246" cy="845110"/>
          </a:xfrm>
        </p:spPr>
        <p:txBody>
          <a:bodyPr>
            <a:noAutofit/>
          </a:bodyPr>
          <a:lstStyle/>
          <a:p>
            <a:r>
              <a:rPr lang="en-US" sz="3500" b="1" dirty="0">
                <a:solidFill>
                  <a:schemeClr val="bg1"/>
                </a:solidFill>
                <a:latin typeface="Open Sans"/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5CE0F4-B6D5-39BD-8E3E-79E9F4C1A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2425" y="6159994"/>
            <a:ext cx="3083278" cy="98082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9F4CC78-57F1-A021-3028-9184EB8AFFF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" y="0"/>
            <a:ext cx="957836" cy="957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329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1046</TotalTime>
  <Words>997</Words>
  <Application>Microsoft Office PowerPoint</Application>
  <PresentationFormat>Widescreen</PresentationFormat>
  <Paragraphs>121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Aptos</vt:lpstr>
      <vt:lpstr>Arial</vt:lpstr>
      <vt:lpstr>Arial</vt:lpstr>
      <vt:lpstr>Calibri</vt:lpstr>
      <vt:lpstr>Calibri Light</vt:lpstr>
      <vt:lpstr>Google Sans</vt:lpstr>
      <vt:lpstr>Open Sans</vt:lpstr>
      <vt:lpstr>Office Theme</vt:lpstr>
      <vt:lpstr>Program- MCA Semester- IV Subject- Project</vt:lpstr>
      <vt:lpstr>Learning Objective</vt:lpstr>
      <vt:lpstr>Project</vt:lpstr>
      <vt:lpstr>Content of Project Synopsis</vt:lpstr>
      <vt:lpstr>Instructions for Submitting the Project Synopsis</vt:lpstr>
      <vt:lpstr>Possible reasons for synopsis rejection could be </vt:lpstr>
      <vt:lpstr>Cont…</vt:lpstr>
      <vt:lpstr>Qualification of a Supervisor / Guide</vt:lpstr>
      <vt:lpstr>Project Steering Committee (PSC)</vt:lpstr>
      <vt:lpstr>Do's &amp; Don'ts for preparing project synopsis </vt:lpstr>
      <vt:lpstr>Phase 2: Project Work</vt:lpstr>
      <vt:lpstr>Components of Project Report</vt:lpstr>
      <vt:lpstr>FORMATTING PATTERN OF THE PROJECT REPORT &amp; SYNOPSIS</vt:lpstr>
      <vt:lpstr>Project Evaluation:</vt:lpstr>
      <vt:lpstr>Project Work Execution Plan (Tentative Dates )</vt:lpstr>
      <vt:lpstr>Project PPT Contain</vt:lpstr>
      <vt:lpstr>Presentation Guidelines </vt:lpstr>
      <vt:lpstr>Project Viva Voce/ Presentation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Concept of Management by Objective (MBO)</dc:title>
  <dc:creator>dell</dc:creator>
  <cp:lastModifiedBy>USER</cp:lastModifiedBy>
  <cp:revision>51</cp:revision>
  <dcterms:created xsi:type="dcterms:W3CDTF">2024-03-27T05:42:41Z</dcterms:created>
  <dcterms:modified xsi:type="dcterms:W3CDTF">2026-08-24T08:44:20Z</dcterms:modified>
</cp:coreProperties>
</file>